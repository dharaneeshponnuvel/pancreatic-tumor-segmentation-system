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8/4/2025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Autofit/>
          </a:bodyPr>
          <a:lstStyle/>
          <a:p>
            <a:r>
              <a:rPr lang="en-US" sz="4400" b="1" dirty="0"/>
              <a:t>Title</a:t>
            </a:r>
            <a:r>
              <a:rPr lang="en-US" sz="4400" dirty="0"/>
              <a:t>:</a:t>
            </a:r>
            <a:br>
              <a:rPr lang="en-US" sz="4400" dirty="0"/>
            </a:br>
            <a:r>
              <a:rPr lang="en-US" sz="4400" b="1" dirty="0"/>
              <a:t>Pancreatic Tumor Segmentation using Self-Supervised and Transfer Learning: PANTHER Challenge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8"/>
            <a:ext cx="6269347" cy="1805697"/>
          </a:xfrm>
        </p:spPr>
        <p:txBody>
          <a:bodyPr>
            <a:normAutofit fontScale="55000" lnSpcReduction="20000"/>
          </a:bodyPr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BY: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Dharaneesh P– 22MIS7043</a:t>
            </a:r>
          </a:p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ROHIT k-22MIS7035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GANESH M-22MIS7149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RISHI ADITYA-22MIC7145</a:t>
            </a:r>
          </a:p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2094C-695F-5039-27E3-11C6EDEA0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BE36E-118C-CABE-C285-6BFC75EFA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49408"/>
            <a:ext cx="10058400" cy="455139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sz="1400" b="1" dirty="0"/>
              <a:t>Clinical &amp; Technical Motivation: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       Pancreatic cancer is one of the deadliest cancers due to late diagnosis and complex tumor morphology.</a:t>
            </a:r>
          </a:p>
          <a:p>
            <a:pPr>
              <a:lnSpc>
                <a:spcPct val="100000"/>
              </a:lnSpc>
            </a:pPr>
            <a:r>
              <a:rPr lang="en-US" sz="1400" b="1" dirty="0"/>
              <a:t>Accurate tumor segmentation in MRI is critical for: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             Diagnosis &amp; Staging (Task 1)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             Adaptive Radiotherapy (Task 2)</a:t>
            </a:r>
          </a:p>
          <a:p>
            <a:pPr>
              <a:lnSpc>
                <a:spcPct val="100000"/>
              </a:lnSpc>
            </a:pPr>
            <a:r>
              <a:rPr lang="en-IN" sz="1400" b="1" dirty="0"/>
              <a:t>Core Challenges:</a:t>
            </a:r>
          </a:p>
          <a:p>
            <a:pPr>
              <a:lnSpc>
                <a:spcPct val="100000"/>
              </a:lnSpc>
            </a:pPr>
            <a:r>
              <a:rPr lang="en-US" sz="1400" b="1" dirty="0"/>
              <a:t>  MRI Complexity: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    T1-weighted scans have variable contrast (arterial phase, venous phase, etc.).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   T2-weighted MR-Linac scans are used in real-time, but annotated data is limited.</a:t>
            </a:r>
          </a:p>
          <a:p>
            <a:pPr>
              <a:lnSpc>
                <a:spcPct val="100000"/>
              </a:lnSpc>
            </a:pPr>
            <a:r>
              <a:rPr lang="en-US" sz="1400" b="1" dirty="0"/>
              <a:t>Data Scarcity: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   Task 2 has only 50 annotated MRIs (few-shot learning needed).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   Task 1 has 367 unlabeled scans—opportunity for self-supervised pretraining.</a:t>
            </a:r>
          </a:p>
          <a:p>
            <a:pPr>
              <a:lnSpc>
                <a:spcPct val="100000"/>
              </a:lnSpc>
            </a:pPr>
            <a:endParaRPr lang="en-US" sz="1400" dirty="0"/>
          </a:p>
          <a:p>
            <a:pPr>
              <a:lnSpc>
                <a:spcPct val="100000"/>
              </a:lnSpc>
            </a:pPr>
            <a:endParaRPr lang="en-US" sz="1400" dirty="0"/>
          </a:p>
          <a:p>
            <a:pPr>
              <a:lnSpc>
                <a:spcPct val="100000"/>
              </a:lnSpc>
            </a:pPr>
            <a:endParaRPr lang="en-US" sz="1400" dirty="0"/>
          </a:p>
          <a:p>
            <a:pPr>
              <a:lnSpc>
                <a:spcPct val="100000"/>
              </a:lnSpc>
            </a:pPr>
            <a:endParaRPr lang="en-US" sz="1400" dirty="0"/>
          </a:p>
          <a:p>
            <a:pPr>
              <a:lnSpc>
                <a:spcPct val="100000"/>
              </a:lnSpc>
            </a:pPr>
            <a:endParaRPr lang="en-IN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IN" sz="1400" dirty="0"/>
              <a:t>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506429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B2B16-5159-1617-5751-AB4C37BBE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Overview – What Are the Two Tasks?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7AC508A-84CD-B223-499B-71671CFB6A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2481355"/>
              </p:ext>
            </p:extLst>
          </p:nvPr>
        </p:nvGraphicFramePr>
        <p:xfrm>
          <a:off x="1096963" y="2406769"/>
          <a:ext cx="10058400" cy="2713872"/>
        </p:xfrm>
        <a:graphic>
          <a:graphicData uri="http://schemas.openxmlformats.org/drawingml/2006/table">
            <a:tbl>
              <a:tblPr>
                <a:tableStyleId>{5FD0F851-EC5A-4D38-B0AD-8093EC10F338}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75106129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58873576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379570849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262655131"/>
                    </a:ext>
                  </a:extLst>
                </a:gridCol>
              </a:tblGrid>
              <a:tr h="603082">
                <a:tc>
                  <a:txBody>
                    <a:bodyPr/>
                    <a:lstStyle/>
                    <a:p>
                      <a:r>
                        <a:rPr lang="en-IN" dirty="0"/>
                        <a:t>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MRI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Purpose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Main Challenge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5619774"/>
                  </a:ext>
                </a:extLst>
              </a:tr>
              <a:tr h="1055395">
                <a:tc>
                  <a:txBody>
                    <a:bodyPr/>
                    <a:lstStyle/>
                    <a:p>
                      <a:r>
                        <a:rPr lang="en-IN" b="1" dirty="0"/>
                        <a:t>Task 1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T1-weighted contrast-enhanced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Diagnosis &amp; Staging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Variable contrast, subtle tumour visibility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6989725"/>
                  </a:ext>
                </a:extLst>
              </a:tr>
              <a:tr h="1055395">
                <a:tc>
                  <a:txBody>
                    <a:bodyPr/>
                    <a:lstStyle/>
                    <a:p>
                      <a:r>
                        <a:rPr lang="en-IN" b="1" dirty="0"/>
                        <a:t>Task 2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T2-weighted MR-Linac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Adaptive Radiotherapy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Few labeled samples, real-time constraints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8196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909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717C5-690B-477D-AC8F-85A434BCF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MRI Types Explained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E47B0-05E2-B71F-3B82-3D4A514FB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T1-weighted Arterial Contrast-Enhanced MRI (Task 1):</a:t>
            </a:r>
          </a:p>
          <a:p>
            <a:r>
              <a:rPr lang="en-IN" dirty="0"/>
              <a:t>     Captures </a:t>
            </a:r>
            <a:r>
              <a:rPr lang="en-IN" b="1" dirty="0"/>
              <a:t>vascular structure</a:t>
            </a:r>
            <a:r>
              <a:rPr lang="en-IN" dirty="0"/>
              <a:t> using contrast agents.</a:t>
            </a:r>
          </a:p>
          <a:p>
            <a:r>
              <a:rPr lang="en-IN" dirty="0"/>
              <a:t>    Tumour appears </a:t>
            </a:r>
            <a:r>
              <a:rPr lang="en-IN" b="1" dirty="0"/>
              <a:t>hypo- or iso-intense</a:t>
            </a:r>
            <a:r>
              <a:rPr lang="en-IN" dirty="0"/>
              <a:t>.</a:t>
            </a:r>
          </a:p>
          <a:p>
            <a:r>
              <a:rPr lang="en-IN" dirty="0"/>
              <a:t>    High variability in enhancement → difficult segmentation.</a:t>
            </a:r>
          </a:p>
          <a:p>
            <a:r>
              <a:rPr lang="en-IN" b="1" dirty="0"/>
              <a:t>T2-weighted MRI (Task 2):</a:t>
            </a:r>
          </a:p>
          <a:p>
            <a:r>
              <a:rPr lang="en-IN" dirty="0"/>
              <a:t>   Emphasizes </a:t>
            </a:r>
            <a:r>
              <a:rPr lang="en-IN" b="1" dirty="0"/>
              <a:t>fluid &amp; soft tissue</a:t>
            </a:r>
            <a:r>
              <a:rPr lang="en-IN" dirty="0"/>
              <a:t>.</a:t>
            </a:r>
          </a:p>
          <a:p>
            <a:r>
              <a:rPr lang="en-IN" dirty="0"/>
              <a:t>  Tumour typically </a:t>
            </a:r>
            <a:r>
              <a:rPr lang="en-IN" b="1" dirty="0"/>
              <a:t>hyperintense</a:t>
            </a:r>
            <a:r>
              <a:rPr lang="en-IN" dirty="0"/>
              <a:t>.</a:t>
            </a:r>
          </a:p>
          <a:p>
            <a:r>
              <a:rPr lang="en-IN" dirty="0"/>
              <a:t>  Ideal for treatment monitoring, but data limited.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1090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7B697-DA24-6B23-2F53-59CCE13E3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Dataset Comparison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D2A15D7-9CF1-DDCC-D5B0-2908E88B05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71456110"/>
              </p:ext>
            </p:extLst>
          </p:nvPr>
        </p:nvGraphicFramePr>
        <p:xfrm>
          <a:off x="1096963" y="2587925"/>
          <a:ext cx="9953475" cy="3096882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3317825">
                  <a:extLst>
                    <a:ext uri="{9D8B030D-6E8A-4147-A177-3AD203B41FA5}">
                      <a16:colId xmlns:a16="http://schemas.microsoft.com/office/drawing/2014/main" val="1809479716"/>
                    </a:ext>
                  </a:extLst>
                </a:gridCol>
                <a:gridCol w="3317825">
                  <a:extLst>
                    <a:ext uri="{9D8B030D-6E8A-4147-A177-3AD203B41FA5}">
                      <a16:colId xmlns:a16="http://schemas.microsoft.com/office/drawing/2014/main" val="431529484"/>
                    </a:ext>
                  </a:extLst>
                </a:gridCol>
                <a:gridCol w="3317825">
                  <a:extLst>
                    <a:ext uri="{9D8B030D-6E8A-4147-A177-3AD203B41FA5}">
                      <a16:colId xmlns:a16="http://schemas.microsoft.com/office/drawing/2014/main" val="416407414"/>
                    </a:ext>
                  </a:extLst>
                </a:gridCol>
              </a:tblGrid>
              <a:tr h="516147">
                <a:tc>
                  <a:txBody>
                    <a:bodyPr/>
                    <a:lstStyle/>
                    <a:p>
                      <a:r>
                        <a:rPr lang="en-IN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Task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Task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019156"/>
                  </a:ext>
                </a:extLst>
              </a:tr>
              <a:tr h="516147">
                <a:tc>
                  <a:txBody>
                    <a:bodyPr/>
                    <a:lstStyle/>
                    <a:p>
                      <a:r>
                        <a:rPr lang="en-IN"/>
                        <a:t>Annotated Scans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589524"/>
                  </a:ext>
                </a:extLst>
              </a:tr>
              <a:tr h="516147">
                <a:tc>
                  <a:txBody>
                    <a:bodyPr/>
                    <a:lstStyle/>
                    <a:p>
                      <a:r>
                        <a:rPr lang="en-IN"/>
                        <a:t>Unannotated Scans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367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583080"/>
                  </a:ext>
                </a:extLst>
              </a:tr>
              <a:tr h="516147">
                <a:tc>
                  <a:txBody>
                    <a:bodyPr/>
                    <a:lstStyle/>
                    <a:p>
                      <a:r>
                        <a:rPr lang="en-IN"/>
                        <a:t>MRI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Multi-phase 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T2 MR-Linac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0950992"/>
                  </a:ext>
                </a:extLst>
              </a:tr>
              <a:tr h="516147">
                <a:tc>
                  <a:txBody>
                    <a:bodyPr/>
                    <a:lstStyle/>
                    <a:p>
                      <a:r>
                        <a:rPr lang="en-IN"/>
                        <a:t>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Diagnosis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Radiotherapy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5469375"/>
                  </a:ext>
                </a:extLst>
              </a:tr>
              <a:tr h="516147">
                <a:tc>
                  <a:txBody>
                    <a:bodyPr/>
                    <a:lstStyle/>
                    <a:p>
                      <a:r>
                        <a:rPr lang="en-IN"/>
                        <a:t>Challenge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Contrast variation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Few-shot segmentation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2091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0289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4C8B9-D71C-5BFF-A5D6-D301E93B1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Technical Workflow –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CA5B0-0BA8-6734-6B32-56613048D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Preprocessing (Resampling, Normalization)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Self-Supervised Pretraining (</a:t>
            </a:r>
            <a:r>
              <a:rPr lang="en-US" dirty="0" err="1"/>
              <a:t>SimCLR</a:t>
            </a:r>
            <a:r>
              <a:rPr lang="en-US" dirty="0"/>
              <a:t> / MAE on T1)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Supervised Fine-Tuning (on annotated T1 data)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Transfer Learning to Task 2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Few-shot learning + Data Augmentation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Evaluation &amp; Post-processing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7540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8EDF-0ABB-9257-75A8-2DF2C6294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Step-by-Step – Task 1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D46A8-4612-14DC-3D6B-297A42BE9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b="1" dirty="0"/>
              <a:t>Preprocessing:</a:t>
            </a:r>
          </a:p>
          <a:p>
            <a:r>
              <a:rPr lang="en-IN" dirty="0"/>
              <a:t>Normalize intensity (z-score), resize, align orientation</a:t>
            </a:r>
          </a:p>
          <a:p>
            <a:r>
              <a:rPr lang="en-IN" b="1" dirty="0"/>
              <a:t>🔹 Self-Supervised Pretraining:</a:t>
            </a:r>
          </a:p>
          <a:p>
            <a:r>
              <a:rPr lang="en-IN" dirty="0"/>
              <a:t>Use </a:t>
            </a:r>
            <a:r>
              <a:rPr lang="en-IN" b="1" dirty="0"/>
              <a:t>MAE or </a:t>
            </a:r>
            <a:r>
              <a:rPr lang="en-IN" b="1" dirty="0" err="1"/>
              <a:t>SimCLR</a:t>
            </a:r>
            <a:r>
              <a:rPr lang="en-IN" dirty="0"/>
              <a:t> on 367 unannotated multi-phase T1 MRIs</a:t>
            </a:r>
          </a:p>
          <a:p>
            <a:r>
              <a:rPr lang="en-IN" dirty="0"/>
              <a:t>Output: encoder pretrained on pancreas anatomy</a:t>
            </a:r>
          </a:p>
          <a:p>
            <a:r>
              <a:rPr lang="en-IN" b="1" dirty="0"/>
              <a:t>🔹 Fine-Tuning:</a:t>
            </a:r>
          </a:p>
          <a:p>
            <a:r>
              <a:rPr lang="en-IN" dirty="0"/>
              <a:t>Architecture: </a:t>
            </a:r>
            <a:r>
              <a:rPr lang="en-IN" b="1" dirty="0"/>
              <a:t>Swin UNETR</a:t>
            </a:r>
            <a:r>
              <a:rPr lang="en-IN" dirty="0"/>
              <a:t> / </a:t>
            </a:r>
            <a:r>
              <a:rPr lang="en-IN" b="1" dirty="0" err="1"/>
              <a:t>EfficientUNet</a:t>
            </a:r>
            <a:endParaRPr lang="en-IN" dirty="0"/>
          </a:p>
          <a:p>
            <a:r>
              <a:rPr lang="en-IN" dirty="0"/>
              <a:t>Loss: Dice + BCE</a:t>
            </a:r>
          </a:p>
          <a:p>
            <a:r>
              <a:rPr lang="en-IN" dirty="0"/>
              <a:t>Use 92 annotated images for training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4063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3F9E8-9882-D492-916C-9B5F0EAC4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Step-by-Step – Task 2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F8CF6-10D4-5599-65AC-113062B5E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b="1" dirty="0"/>
              <a:t>🔹 Transfer Learning:</a:t>
            </a:r>
          </a:p>
          <a:p>
            <a:r>
              <a:rPr lang="en-IN" dirty="0"/>
              <a:t>Load encoder from Task 1</a:t>
            </a:r>
          </a:p>
          <a:p>
            <a:r>
              <a:rPr lang="en-IN" b="1" dirty="0"/>
              <a:t>🔹 Few-Shot Setup:</a:t>
            </a:r>
          </a:p>
          <a:p>
            <a:r>
              <a:rPr lang="en-IN" dirty="0"/>
              <a:t>Train on just 50 T2 MRIs</a:t>
            </a:r>
          </a:p>
          <a:p>
            <a:r>
              <a:rPr lang="en-IN" dirty="0"/>
              <a:t>Model: </a:t>
            </a:r>
            <a:r>
              <a:rPr lang="en-IN" b="1" dirty="0" err="1"/>
              <a:t>TransUNet</a:t>
            </a:r>
            <a:r>
              <a:rPr lang="en-IN" dirty="0"/>
              <a:t> or </a:t>
            </a:r>
            <a:r>
              <a:rPr lang="en-IN" b="1" dirty="0"/>
              <a:t>UNETR</a:t>
            </a:r>
            <a:r>
              <a:rPr lang="en-IN" dirty="0"/>
              <a:t> with attention</a:t>
            </a:r>
          </a:p>
          <a:p>
            <a:r>
              <a:rPr lang="en-IN" b="1" dirty="0"/>
              <a:t>🔹 Augmentation:</a:t>
            </a:r>
          </a:p>
          <a:p>
            <a:r>
              <a:rPr lang="en-IN" dirty="0"/>
              <a:t>Elastic deformation, affine, noise, dropout</a:t>
            </a:r>
          </a:p>
          <a:p>
            <a:r>
              <a:rPr lang="en-IN" b="1" dirty="0"/>
              <a:t>🔹 Optional Semi-Supervision:</a:t>
            </a:r>
          </a:p>
          <a:p>
            <a:r>
              <a:rPr lang="en-IN" dirty="0"/>
              <a:t>Pseudo-</a:t>
            </a:r>
            <a:r>
              <a:rPr lang="en-IN" dirty="0" err="1"/>
              <a:t>labeling</a:t>
            </a:r>
            <a:r>
              <a:rPr lang="en-IN" dirty="0"/>
              <a:t> + consistency regularization (if more data available)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754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E1C9-DE5F-CF80-1BE2-A895D1680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Architecture Choices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0C4B68-6651-127B-6C62-7189620163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335587"/>
              </p:ext>
            </p:extLst>
          </p:nvPr>
        </p:nvGraphicFramePr>
        <p:xfrm>
          <a:off x="1096963" y="2337758"/>
          <a:ext cx="10058400" cy="2565235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727438002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364170460"/>
                    </a:ext>
                  </a:extLst>
                </a:gridCol>
              </a:tblGrid>
              <a:tr h="513047">
                <a:tc>
                  <a:txBody>
                    <a:bodyPr/>
                    <a:lstStyle/>
                    <a:p>
                      <a:r>
                        <a:rPr lang="en-IN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4019609"/>
                  </a:ext>
                </a:extLst>
              </a:tr>
              <a:tr h="513047">
                <a:tc>
                  <a:txBody>
                    <a:bodyPr/>
                    <a:lstStyle/>
                    <a:p>
                      <a:r>
                        <a:rPr lang="en-IN"/>
                        <a:t>SSL Pretraining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MAE / SimCLR / BYOL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8410861"/>
                  </a:ext>
                </a:extLst>
              </a:tr>
              <a:tr h="513047">
                <a:tc>
                  <a:txBody>
                    <a:bodyPr/>
                    <a:lstStyle/>
                    <a:p>
                      <a:r>
                        <a:rPr lang="en-IN"/>
                        <a:t>Task 1 Segmentation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Swin UNETR / EfficientUNet / nnUNet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573583"/>
                  </a:ext>
                </a:extLst>
              </a:tr>
              <a:tr h="513047">
                <a:tc>
                  <a:txBody>
                    <a:bodyPr/>
                    <a:lstStyle/>
                    <a:p>
                      <a:r>
                        <a:rPr lang="en-IN"/>
                        <a:t>Task 2 Adaptation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TransUNet / R50-ViT / Lightweight UNETR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8560473"/>
                  </a:ext>
                </a:extLst>
              </a:tr>
              <a:tr h="513047">
                <a:tc>
                  <a:txBody>
                    <a:bodyPr/>
                    <a:lstStyle/>
                    <a:p>
                      <a:r>
                        <a:rPr lang="en-IN"/>
                        <a:t>Data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MONAI, </a:t>
                      </a:r>
                      <a:r>
                        <a:rPr lang="en-IN" dirty="0" err="1"/>
                        <a:t>TorchIO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NiBabel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658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001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94B5D-2D81-CE03-A023-1E445DFB0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666F7-E447-B075-CEB6-4743472E4E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Dice Score – Overlap of prediction &amp; ground truth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 err="1"/>
              <a:t>IoU</a:t>
            </a:r>
            <a:r>
              <a:rPr lang="en-IN" dirty="0"/>
              <a:t> (Jaccard Index) – Intersection over union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 err="1"/>
              <a:t>Hausdorff</a:t>
            </a:r>
            <a:r>
              <a:rPr lang="en-IN" dirty="0"/>
              <a:t> Distance – Boundary-based precision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Cross-validation – 5-fold for robustness</a:t>
            </a:r>
          </a:p>
        </p:txBody>
      </p:sp>
    </p:spTree>
    <p:extLst>
      <p:ext uri="{BB962C8B-B14F-4D97-AF65-F5344CB8AC3E}">
        <p14:creationId xmlns:p14="http://schemas.microsoft.com/office/powerpoint/2010/main" val="723127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6AEC0-5533-08ED-D7FF-A6FE1FCD4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Accuracy Boosting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E2099-6D7D-1049-36D9-3A339CA3E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Multi-view Training (Axial, Coronal, Sagittal)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Curriculum Learning (Train easy → hard)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CRF or Morphological Post-processing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Model </a:t>
            </a:r>
            <a:r>
              <a:rPr lang="en-IN" dirty="0" err="1"/>
              <a:t>Ensembling</a:t>
            </a:r>
            <a:r>
              <a:rPr lang="en-IN" dirty="0"/>
              <a:t> (blend 2–3 models)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Co-Training (joint pancreas + tumour models)</a:t>
            </a:r>
          </a:p>
        </p:txBody>
      </p:sp>
    </p:spTree>
    <p:extLst>
      <p:ext uri="{BB962C8B-B14F-4D97-AF65-F5344CB8AC3E}">
        <p14:creationId xmlns:p14="http://schemas.microsoft.com/office/powerpoint/2010/main" val="307693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C1DA7-454D-8C23-49E0-6AC38ABBF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Summary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1B7D6-22D5-B763-1F5E-43D946F62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Achievements:</a:t>
            </a:r>
          </a:p>
          <a:p>
            <a:r>
              <a:rPr lang="en-US" dirty="0"/>
              <a:t>Designed robust segmentation pipeline using SSL and transfer learning</a:t>
            </a:r>
          </a:p>
          <a:p>
            <a:r>
              <a:rPr lang="en-US" dirty="0"/>
              <a:t>Addressed data scarcity with advanced augmentation</a:t>
            </a:r>
          </a:p>
          <a:p>
            <a:r>
              <a:rPr lang="en-US" dirty="0"/>
              <a:t>Improved segmentation in real-time MRI therapy context</a:t>
            </a:r>
          </a:p>
          <a:p>
            <a:r>
              <a:rPr lang="en-US" b="1" dirty="0"/>
              <a:t>Future Work:</a:t>
            </a:r>
          </a:p>
          <a:p>
            <a:r>
              <a:rPr lang="en-US" dirty="0"/>
              <a:t>Domain generalization across hospitals</a:t>
            </a:r>
          </a:p>
          <a:p>
            <a:r>
              <a:rPr lang="en-US" dirty="0"/>
              <a:t>Integrate temporal sequences (pre-/post-treatment)</a:t>
            </a:r>
          </a:p>
          <a:p>
            <a:r>
              <a:rPr lang="en-US" dirty="0"/>
              <a:t>Real-time segmentation on MR-Linac during therapy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79525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18909-97E5-2982-BCE4-7DFBD9B7DB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64654B-8EA5-47D4-8520-B53CCEB14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PANTHER Challenge Dataset (Link)</a:t>
            </a:r>
          </a:p>
          <a:p>
            <a:r>
              <a:rPr lang="en-IN" dirty="0" err="1"/>
              <a:t>SimCLR</a:t>
            </a:r>
            <a:r>
              <a:rPr lang="en-IN" dirty="0"/>
              <a:t> Paper (Link)</a:t>
            </a:r>
          </a:p>
          <a:p>
            <a:r>
              <a:rPr lang="en-IN" dirty="0"/>
              <a:t>MAE Paper (Link)</a:t>
            </a:r>
          </a:p>
          <a:p>
            <a:r>
              <a:rPr lang="en-IN" dirty="0"/>
              <a:t>Swin UNETR (Link)</a:t>
            </a:r>
          </a:p>
          <a:p>
            <a:r>
              <a:rPr lang="en-IN" dirty="0"/>
              <a:t>MONAI Documentation (Link)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208987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{4678B26C-04F9-4734-81D2-8F927F88BBAA}tf56160789_win32</Template>
  <TotalTime>23</TotalTime>
  <Words>611</Words>
  <Application>Microsoft Office PowerPoint</Application>
  <PresentationFormat>Widescreen</PresentationFormat>
  <Paragraphs>130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Bookman Old Style</vt:lpstr>
      <vt:lpstr>Calibri</vt:lpstr>
      <vt:lpstr>Franklin Gothic Book</vt:lpstr>
      <vt:lpstr>Custom</vt:lpstr>
      <vt:lpstr>Title: Pancreatic Tumor Segmentation using Self-Supervised and Transfer Learning: PANTHER Challenge</vt:lpstr>
      <vt:lpstr>Problem Statement</vt:lpstr>
      <vt:lpstr>Task Overview – What Are the Two Tasks?</vt:lpstr>
      <vt:lpstr>MRI Types Explained</vt:lpstr>
      <vt:lpstr>Dataset Comparison</vt:lpstr>
      <vt:lpstr>Technical Workflow – Overview</vt:lpstr>
      <vt:lpstr>Step-by-Step – Task 1 Pipeline</vt:lpstr>
      <vt:lpstr>Step-by-Step – Task 2 Pipeline</vt:lpstr>
      <vt:lpstr>Model Architecture Choices</vt:lpstr>
      <vt:lpstr>Evaluation Metrics</vt:lpstr>
      <vt:lpstr>Accuracy Boosting Techniques</vt:lpstr>
      <vt:lpstr>Project Summary &amp; Future Scope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Muzammil malick</dc:creator>
  <cp:lastModifiedBy>Muzammil malick</cp:lastModifiedBy>
  <cp:revision>1</cp:revision>
  <dcterms:created xsi:type="dcterms:W3CDTF">2025-08-04T13:57:36Z</dcterms:created>
  <dcterms:modified xsi:type="dcterms:W3CDTF">2025-08-04T14:21:24Z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